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61" r:id="rId2"/>
    <p:sldId id="267" r:id="rId3"/>
    <p:sldId id="269" r:id="rId4"/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49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985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41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87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1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9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0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25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3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16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0404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9332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23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26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5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46FB2-B432-4774-A3D6-767626D666C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9E681-A6AC-456C-9921-01A96F6C9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49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fatbardha@sharpgroup.co" TargetMode="External"/><Relationship Id="rId2" Type="http://schemas.openxmlformats.org/officeDocument/2006/relationships/hyperlink" Target="mailto:alban.ismaili98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3068" y="1541118"/>
            <a:ext cx="8825658" cy="3329581"/>
          </a:xfrm>
        </p:spPr>
        <p:txBody>
          <a:bodyPr/>
          <a:lstStyle/>
          <a:p>
            <a:pPr algn="ctr"/>
            <a:r>
              <a:rPr lang="mk-MK" sz="3600" dirty="0" smtClean="0">
                <a:solidFill>
                  <a:srgbClr val="002060"/>
                </a:solidFill>
              </a:rPr>
              <a:t>Проектна задача</a:t>
            </a:r>
            <a:r>
              <a:rPr lang="en-US" sz="3600" dirty="0">
                <a:solidFill>
                  <a:srgbClr val="002060"/>
                </a:solidFill>
              </a:rPr>
              <a:t/>
            </a:r>
            <a:br>
              <a:rPr lang="en-US" sz="3600" dirty="0">
                <a:solidFill>
                  <a:srgbClr val="002060"/>
                </a:solidFill>
              </a:rPr>
            </a:br>
            <a:r>
              <a:rPr lang="en-US" sz="3600" dirty="0" smtClean="0">
                <a:solidFill>
                  <a:srgbClr val="002060"/>
                </a:solidFill>
              </a:rPr>
              <a:t/>
            </a:r>
            <a:br>
              <a:rPr lang="en-US" sz="3600" dirty="0" smtClean="0">
                <a:solidFill>
                  <a:srgbClr val="002060"/>
                </a:solidFill>
              </a:rPr>
            </a:br>
            <a:endParaRPr lang="en-US" sz="3600" dirty="0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68" y="0"/>
            <a:ext cx="1353429" cy="13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814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1213" y="3528419"/>
            <a:ext cx="8825658" cy="3329581"/>
          </a:xfrm>
        </p:spPr>
        <p:txBody>
          <a:bodyPr/>
          <a:lstStyle/>
          <a:p>
            <a:pPr algn="l"/>
            <a:r>
              <a:rPr lang="mk-MK" sz="2400" b="1" dirty="0" smtClean="0">
                <a:solidFill>
                  <a:srgbClr val="002060"/>
                </a:solidFill>
              </a:rPr>
              <a:t>Од датасетот </a:t>
            </a:r>
            <a:r>
              <a:rPr lang="en-US" sz="2400" b="1" dirty="0" err="1" smtClean="0">
                <a:solidFill>
                  <a:srgbClr val="002060"/>
                </a:solidFill>
              </a:rPr>
              <a:t>clients_products_dataset</a:t>
            </a:r>
            <a:r>
              <a:rPr lang="en-US" sz="2400" b="1" dirty="0" smtClean="0">
                <a:solidFill>
                  <a:srgbClr val="002060"/>
                </a:solidFill>
              </a:rPr>
              <a:t>:</a:t>
            </a:r>
            <a:r>
              <a:rPr lang="mk-MK" sz="2400" b="1" dirty="0" smtClean="0">
                <a:solidFill>
                  <a:srgbClr val="002060"/>
                </a:solidFill>
              </a:rPr>
              <a:t/>
            </a:r>
            <a:br>
              <a:rPr lang="mk-MK" sz="2400" b="1" dirty="0" smtClean="0">
                <a:solidFill>
                  <a:srgbClr val="002060"/>
                </a:solidFill>
              </a:rPr>
            </a:br>
            <a:r>
              <a:rPr lang="en-US" sz="2400" b="1" dirty="0">
                <a:solidFill>
                  <a:srgbClr val="002060"/>
                </a:solidFill>
              </a:rPr>
              <a:t/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en-US" sz="2400" b="1" dirty="0" smtClean="0">
                <a:solidFill>
                  <a:srgbClr val="002060"/>
                </a:solidFill>
              </a:rPr>
              <a:t>– </a:t>
            </a:r>
            <a:r>
              <a:rPr lang="mk-MK" sz="2400" b="1" dirty="0">
                <a:solidFill>
                  <a:srgbClr val="002060"/>
                </a:solidFill>
              </a:rPr>
              <a:t>Да се креира нова колона </a:t>
            </a:r>
            <a:r>
              <a:rPr lang="en-US" sz="2400" b="1" dirty="0" err="1">
                <a:solidFill>
                  <a:srgbClr val="002060"/>
                </a:solidFill>
              </a:rPr>
              <a:t>remaining_debt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mk-MK" sz="2400" b="1" dirty="0">
                <a:solidFill>
                  <a:srgbClr val="002060"/>
                </a:solidFill>
              </a:rPr>
              <a:t>која ќе го </a:t>
            </a:r>
            <a:r>
              <a:rPr lang="mk-MK" sz="2400" b="1" dirty="0" smtClean="0">
                <a:solidFill>
                  <a:srgbClr val="002060"/>
                </a:solidFill>
              </a:rPr>
              <a:t>пресмета </a:t>
            </a:r>
            <a:r>
              <a:rPr lang="mk-MK" sz="2400" b="1" dirty="0">
                <a:solidFill>
                  <a:srgbClr val="002060"/>
                </a:solidFill>
              </a:rPr>
              <a:t>преостанатиот долг на клиентот</a:t>
            </a:r>
            <a:r>
              <a:rPr lang="mk-MK" sz="2400" b="1" dirty="0" smtClean="0">
                <a:solidFill>
                  <a:srgbClr val="002060"/>
                </a:solidFill>
              </a:rPr>
              <a:t>: </a:t>
            </a:r>
            <a:r>
              <a:rPr lang="en-US" sz="2400" b="1" dirty="0" smtClean="0">
                <a:solidFill>
                  <a:srgbClr val="002060"/>
                </a:solidFill>
              </a:rPr>
              <a:t/>
            </a:r>
            <a:br>
              <a:rPr lang="en-US" sz="2400" b="1" dirty="0" smtClean="0">
                <a:solidFill>
                  <a:srgbClr val="002060"/>
                </a:solidFill>
              </a:rPr>
            </a:br>
            <a:r>
              <a:rPr lang="mk-MK" sz="2400" b="1" dirty="0" smtClean="0">
                <a:solidFill>
                  <a:srgbClr val="002060"/>
                </a:solidFill>
              </a:rPr>
              <a:t>разлика </a:t>
            </a:r>
            <a:r>
              <a:rPr lang="mk-MK" sz="2400" b="1" dirty="0">
                <a:solidFill>
                  <a:srgbClr val="002060"/>
                </a:solidFill>
              </a:rPr>
              <a:t>помеѓу </a:t>
            </a:r>
            <a:r>
              <a:rPr lang="en-US" sz="2400" b="1" dirty="0">
                <a:solidFill>
                  <a:srgbClr val="002060"/>
                </a:solidFill>
              </a:rPr>
              <a:t>amount </a:t>
            </a:r>
            <a:r>
              <a:rPr lang="mk-MK" sz="2400" b="1" dirty="0">
                <a:solidFill>
                  <a:srgbClr val="002060"/>
                </a:solidFill>
              </a:rPr>
              <a:t>и </a:t>
            </a:r>
            <a:r>
              <a:rPr lang="en-US" sz="2400" b="1" dirty="0" err="1">
                <a:solidFill>
                  <a:srgbClr val="002060"/>
                </a:solidFill>
              </a:rPr>
              <a:t>payed_amount</a:t>
            </a:r>
            <a:r>
              <a:rPr lang="en-US" sz="2400" b="1" dirty="0" smtClean="0">
                <a:solidFill>
                  <a:srgbClr val="002060"/>
                </a:solidFill>
              </a:rPr>
              <a:t>.</a:t>
            </a:r>
            <a:r>
              <a:rPr lang="en-US" sz="2400" b="1" dirty="0">
                <a:solidFill>
                  <a:srgbClr val="002060"/>
                </a:solidFill>
              </a:rPr>
              <a:t/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en-US" sz="2400" b="1" dirty="0" smtClean="0">
                <a:solidFill>
                  <a:srgbClr val="002060"/>
                </a:solidFill>
              </a:rPr>
              <a:t>– </a:t>
            </a:r>
            <a:r>
              <a:rPr lang="mk-MK" sz="2400" b="1" dirty="0">
                <a:solidFill>
                  <a:srgbClr val="002060"/>
                </a:solidFill>
              </a:rPr>
              <a:t>Да се креира нова колона </a:t>
            </a:r>
            <a:r>
              <a:rPr lang="en-US" sz="2400" b="1" dirty="0" err="1">
                <a:solidFill>
                  <a:srgbClr val="002060"/>
                </a:solidFill>
              </a:rPr>
              <a:t>total_debt_with_interest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mk-MK" sz="2400" b="1" dirty="0">
                <a:solidFill>
                  <a:srgbClr val="002060"/>
                </a:solidFill>
              </a:rPr>
              <a:t>која ќе го </a:t>
            </a:r>
            <a:r>
              <a:rPr lang="mk-MK" sz="2400" b="1" dirty="0" smtClean="0">
                <a:solidFill>
                  <a:srgbClr val="002060"/>
                </a:solidFill>
              </a:rPr>
              <a:t>пресмета </a:t>
            </a:r>
            <a:r>
              <a:rPr lang="mk-MK" sz="2400" b="1" dirty="0">
                <a:solidFill>
                  <a:srgbClr val="002060"/>
                </a:solidFill>
              </a:rPr>
              <a:t>долгот со камата</a:t>
            </a:r>
            <a:r>
              <a:rPr lang="mk-MK" sz="2400" b="1" dirty="0" smtClean="0">
                <a:solidFill>
                  <a:srgbClr val="002060"/>
                </a:solidFill>
              </a:rPr>
              <a:t>:</a:t>
            </a:r>
            <a:r>
              <a:rPr lang="en-US" sz="2400" b="1" dirty="0" smtClean="0">
                <a:solidFill>
                  <a:srgbClr val="002060"/>
                </a:solidFill>
              </a:rPr>
              <a:t/>
            </a:r>
            <a:br>
              <a:rPr lang="en-US" sz="2400" b="1" dirty="0" smtClean="0">
                <a:solidFill>
                  <a:srgbClr val="002060"/>
                </a:solidFill>
              </a:rPr>
            </a:br>
            <a:r>
              <a:rPr lang="en-US" sz="2400" b="1" dirty="0" err="1" smtClean="0">
                <a:solidFill>
                  <a:srgbClr val="002060"/>
                </a:solidFill>
              </a:rPr>
              <a:t>remaining_debt</a:t>
            </a: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en-US" sz="2400" b="1" dirty="0">
                <a:solidFill>
                  <a:srgbClr val="002060"/>
                </a:solidFill>
              </a:rPr>
              <a:t>× (1 + </a:t>
            </a:r>
            <a:r>
              <a:rPr lang="en-US" sz="2400" b="1" dirty="0" err="1">
                <a:solidFill>
                  <a:srgbClr val="002060"/>
                </a:solidFill>
              </a:rPr>
              <a:t>interest_rate</a:t>
            </a:r>
            <a:r>
              <a:rPr lang="en-US" sz="2400" b="1" dirty="0" smtClean="0">
                <a:solidFill>
                  <a:srgbClr val="002060"/>
                </a:solidFill>
              </a:rPr>
              <a:t>).</a:t>
            </a:r>
            <a:r>
              <a:rPr lang="en-US" sz="2400" b="1" dirty="0">
                <a:solidFill>
                  <a:srgbClr val="002060"/>
                </a:solidFill>
              </a:rPr>
              <a:t/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en-US" sz="2400" b="1" dirty="0" smtClean="0">
                <a:solidFill>
                  <a:srgbClr val="002060"/>
                </a:solidFill>
              </a:rPr>
              <a:t>– </a:t>
            </a:r>
            <a:r>
              <a:rPr lang="ru-RU" sz="2400" b="1" dirty="0">
                <a:solidFill>
                  <a:srgbClr val="002060"/>
                </a:solidFill>
              </a:rPr>
              <a:t>Колкав е процентот на клиенти кои се во </a:t>
            </a:r>
            <a:r>
              <a:rPr lang="ru-RU" sz="2400" b="1" dirty="0" smtClean="0">
                <a:solidFill>
                  <a:srgbClr val="002060"/>
                </a:solidFill>
              </a:rPr>
              <a:t>default</a:t>
            </a:r>
            <a:r>
              <a:rPr lang="en-US" sz="2400" b="1" dirty="0" smtClean="0">
                <a:solidFill>
                  <a:srgbClr val="002060"/>
                </a:solidFill>
              </a:rPr>
              <a:t>?</a:t>
            </a:r>
            <a:r>
              <a:rPr lang="en-US" sz="2400" b="1" dirty="0">
                <a:solidFill>
                  <a:srgbClr val="002060"/>
                </a:solidFill>
              </a:rPr>
              <a:t/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en-US" sz="2400" b="1" dirty="0" smtClean="0">
                <a:solidFill>
                  <a:srgbClr val="002060"/>
                </a:solidFill>
              </a:rPr>
              <a:t>- </a:t>
            </a:r>
            <a:r>
              <a:rPr lang="ru-RU" sz="2400" b="1" dirty="0">
                <a:solidFill>
                  <a:srgbClr val="002060"/>
                </a:solidFill>
              </a:rPr>
              <a:t>Кој продукт има највисока просечна каматна стапка (interest_rate)?</a:t>
            </a:r>
            <a:r>
              <a:rPr lang="en-US" sz="2400" b="1" dirty="0" smtClean="0">
                <a:solidFill>
                  <a:srgbClr val="002060"/>
                </a:solidFill>
              </a:rPr>
              <a:t/>
            </a:r>
            <a:br>
              <a:rPr lang="en-US" sz="2400" b="1" dirty="0" smtClean="0">
                <a:solidFill>
                  <a:srgbClr val="002060"/>
                </a:solidFill>
              </a:rPr>
            </a:br>
            <a:r>
              <a:rPr lang="it-IT" sz="2400" b="1" dirty="0" smtClean="0">
                <a:solidFill>
                  <a:srgbClr val="002060"/>
                </a:solidFill>
              </a:rPr>
              <a:t>- </a:t>
            </a:r>
            <a:r>
              <a:rPr lang="ru-RU" sz="2400" b="1" dirty="0">
                <a:solidFill>
                  <a:srgbClr val="002060"/>
                </a:solidFill>
              </a:rPr>
              <a:t>Да се прикаже график кој ја покажува просечната каматна стапка по </a:t>
            </a:r>
            <a:r>
              <a:rPr lang="ru-RU" sz="2400" b="1" dirty="0" smtClean="0">
                <a:solidFill>
                  <a:srgbClr val="002060"/>
                </a:solidFill>
              </a:rPr>
              <a:t>product_type</a:t>
            </a:r>
            <a:r>
              <a:rPr lang="en-US" sz="2400" b="1" dirty="0" smtClean="0">
                <a:solidFill>
                  <a:srgbClr val="002060"/>
                </a:solidFill>
              </a:rPr>
              <a:t/>
            </a:r>
            <a:br>
              <a:rPr lang="en-US" sz="2400" b="1" dirty="0" smtClean="0">
                <a:solidFill>
                  <a:srgbClr val="002060"/>
                </a:solidFill>
              </a:rPr>
            </a:br>
            <a:r>
              <a:rPr lang="en-US" sz="2400" b="1" dirty="0" smtClean="0">
                <a:solidFill>
                  <a:srgbClr val="002060"/>
                </a:solidFill>
              </a:rPr>
              <a:t>- </a:t>
            </a:r>
            <a:r>
              <a:rPr lang="ru-RU" sz="2400" b="1" dirty="0">
                <a:solidFill>
                  <a:srgbClr val="002060"/>
                </a:solidFill>
              </a:rPr>
              <a:t>Да се прикаже histogram за распределбата на interest_rate</a:t>
            </a:r>
            <a:r>
              <a:rPr lang="it-IT" sz="2400" b="1" dirty="0">
                <a:solidFill>
                  <a:srgbClr val="002060"/>
                </a:solidFill>
              </a:rPr>
              <a:t/>
            </a:r>
            <a:br>
              <a:rPr lang="it-IT" sz="2400" b="1" dirty="0">
                <a:solidFill>
                  <a:srgbClr val="002060"/>
                </a:solidFill>
              </a:rPr>
            </a:br>
            <a:r>
              <a:rPr lang="it-IT" sz="2400" b="1" dirty="0">
                <a:solidFill>
                  <a:srgbClr val="002060"/>
                </a:solidFill>
              </a:rPr>
              <a:t/>
            </a:r>
            <a:br>
              <a:rPr lang="it-IT" sz="2400" b="1" dirty="0">
                <a:solidFill>
                  <a:srgbClr val="002060"/>
                </a:solidFill>
              </a:rPr>
            </a:br>
            <a:endParaRPr lang="en-US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899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8630" y="3528419"/>
            <a:ext cx="8825658" cy="3329581"/>
          </a:xfrm>
        </p:spPr>
        <p:txBody>
          <a:bodyPr/>
          <a:lstStyle/>
          <a:p>
            <a:pPr algn="l"/>
            <a:r>
              <a:rPr lang="en-US" sz="2400" b="1" dirty="0">
                <a:solidFill>
                  <a:srgbClr val="002060"/>
                </a:solidFill>
              </a:rPr>
              <a:t/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ru-RU" sz="2400" b="1" dirty="0" smtClean="0">
                <a:solidFill>
                  <a:srgbClr val="002060"/>
                </a:solidFill>
              </a:rPr>
              <a:t>- </a:t>
            </a:r>
            <a:r>
              <a:rPr lang="ru-RU" sz="2400" b="1" dirty="0">
                <a:solidFill>
                  <a:srgbClr val="002060"/>
                </a:solidFill>
              </a:rPr>
              <a:t>Дали клиентите кои се во default имаат поголем remaining_debt</a:t>
            </a:r>
            <a:r>
              <a:rPr lang="en-US" sz="2400" b="1" dirty="0" smtClean="0">
                <a:solidFill>
                  <a:srgbClr val="002060"/>
                </a:solidFill>
              </a:rPr>
              <a:t/>
            </a:r>
            <a:br>
              <a:rPr lang="en-US" sz="2400" b="1" dirty="0" smtClean="0">
                <a:solidFill>
                  <a:srgbClr val="002060"/>
                </a:solidFill>
              </a:rPr>
            </a:br>
            <a:r>
              <a:rPr lang="en-US" sz="2400" b="1" dirty="0" smtClean="0">
                <a:solidFill>
                  <a:srgbClr val="002060"/>
                </a:solidFill>
              </a:rPr>
              <a:t>– </a:t>
            </a:r>
            <a:r>
              <a:rPr lang="mk-MK" sz="2400" b="1" dirty="0">
                <a:solidFill>
                  <a:srgbClr val="002060"/>
                </a:solidFill>
              </a:rPr>
              <a:t>Да се креира </a:t>
            </a:r>
            <a:r>
              <a:rPr lang="en-US" sz="2400" b="1" dirty="0">
                <a:solidFill>
                  <a:srgbClr val="002060"/>
                </a:solidFill>
              </a:rPr>
              <a:t>scatter plot </a:t>
            </a:r>
            <a:r>
              <a:rPr lang="mk-MK" sz="2400" b="1" dirty="0">
                <a:solidFill>
                  <a:srgbClr val="002060"/>
                </a:solidFill>
              </a:rPr>
              <a:t>кој ја покажува врската помеѓу:→ </a:t>
            </a:r>
            <a:r>
              <a:rPr lang="en-US" sz="2400" b="1" dirty="0">
                <a:solidFill>
                  <a:srgbClr val="002060"/>
                </a:solidFill>
              </a:rPr>
              <a:t>amount </a:t>
            </a:r>
            <a:r>
              <a:rPr lang="mk-MK" sz="2400" b="1" dirty="0">
                <a:solidFill>
                  <a:srgbClr val="002060"/>
                </a:solidFill>
              </a:rPr>
              <a:t>и </a:t>
            </a:r>
            <a:r>
              <a:rPr lang="en-US" sz="2400" b="1" dirty="0" err="1" smtClean="0">
                <a:solidFill>
                  <a:srgbClr val="002060"/>
                </a:solidFill>
              </a:rPr>
              <a:t>interest_rate</a:t>
            </a:r>
            <a:r>
              <a:rPr lang="en-US" sz="2400" b="1" dirty="0">
                <a:solidFill>
                  <a:srgbClr val="002060"/>
                </a:solidFill>
              </a:rPr>
              <a:t/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en-US" sz="2400" b="1" dirty="0" smtClean="0">
                <a:solidFill>
                  <a:srgbClr val="002060"/>
                </a:solidFill>
              </a:rPr>
              <a:t>– </a:t>
            </a:r>
            <a:r>
              <a:rPr lang="mk-MK" sz="2400" b="1" dirty="0">
                <a:solidFill>
                  <a:srgbClr val="002060"/>
                </a:solidFill>
              </a:rPr>
              <a:t>Да се креира </a:t>
            </a:r>
            <a:r>
              <a:rPr lang="en-US" sz="2400" b="1" dirty="0">
                <a:solidFill>
                  <a:srgbClr val="002060"/>
                </a:solidFill>
              </a:rPr>
              <a:t>correlation matrix </a:t>
            </a:r>
            <a:r>
              <a:rPr lang="mk-MK" sz="2400" b="1" dirty="0">
                <a:solidFill>
                  <a:srgbClr val="002060"/>
                </a:solidFill>
              </a:rPr>
              <a:t>и да се анализира врската помеѓу:</a:t>
            </a:r>
            <a:r>
              <a:rPr lang="en-US" sz="2400" b="1" dirty="0" err="1" smtClean="0">
                <a:solidFill>
                  <a:srgbClr val="002060"/>
                </a:solidFill>
              </a:rPr>
              <a:t>amountpayed_amountinterest_rate</a:t>
            </a:r>
            <a:r>
              <a:rPr lang="en-US" sz="2400" b="1" dirty="0" smtClean="0">
                <a:solidFill>
                  <a:srgbClr val="002060"/>
                </a:solidFill>
              </a:rPr>
              <a:t>.</a:t>
            </a:r>
            <a:br>
              <a:rPr lang="en-US" sz="2400" b="1" dirty="0" smtClean="0">
                <a:solidFill>
                  <a:srgbClr val="002060"/>
                </a:solidFill>
              </a:rPr>
            </a:br>
            <a:r>
              <a:rPr lang="en-US" sz="2400" b="1" dirty="0" smtClean="0">
                <a:solidFill>
                  <a:srgbClr val="002060"/>
                </a:solidFill>
              </a:rPr>
              <a:t>- </a:t>
            </a:r>
            <a:r>
              <a:rPr lang="ru-RU" sz="2400" b="1" dirty="0">
                <a:solidFill>
                  <a:srgbClr val="002060"/>
                </a:solidFill>
              </a:rPr>
              <a:t>Кој тип на продукт има најголем долг</a:t>
            </a:r>
            <a:r>
              <a:rPr lang="ru-RU" sz="2400" b="1" dirty="0" smtClean="0">
                <a:solidFill>
                  <a:srgbClr val="002060"/>
                </a:solidFill>
              </a:rPr>
              <a:t>?</a:t>
            </a:r>
            <a:r>
              <a:rPr lang="en-US" sz="2400" b="1" dirty="0" smtClean="0">
                <a:solidFill>
                  <a:srgbClr val="002060"/>
                </a:solidFill>
              </a:rPr>
              <a:t/>
            </a:r>
            <a:br>
              <a:rPr lang="en-US" sz="2400" b="1" dirty="0" smtClean="0">
                <a:solidFill>
                  <a:srgbClr val="002060"/>
                </a:solidFill>
              </a:rPr>
            </a:br>
            <a:r>
              <a:rPr lang="en-US" sz="2400" b="1" dirty="0">
                <a:solidFill>
                  <a:srgbClr val="002060"/>
                </a:solidFill>
              </a:rPr>
              <a:t/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mk-MK" sz="2400" b="1" dirty="0" smtClean="0">
                <a:solidFill>
                  <a:srgbClr val="002060"/>
                </a:solidFill>
              </a:rPr>
              <a:t>Сите визуелизации да се постават во еден </a:t>
            </a:r>
            <a:r>
              <a:rPr lang="mk-MK" sz="2400" b="1" dirty="0" smtClean="0">
                <a:solidFill>
                  <a:srgbClr val="002060"/>
                </a:solidFill>
              </a:rPr>
              <a:t>прозорец </a:t>
            </a:r>
            <a:r>
              <a:rPr lang="mk-MK" sz="2400" b="1" dirty="0" smtClean="0">
                <a:solidFill>
                  <a:srgbClr val="002060"/>
                </a:solidFill>
              </a:rPr>
              <a:t>со титула</a:t>
            </a:r>
            <a:r>
              <a:rPr lang="en-US" sz="2400" b="1" dirty="0" smtClean="0">
                <a:solidFill>
                  <a:srgbClr val="002060"/>
                </a:solidFill>
              </a:rPr>
              <a:t>: “Client products dashboard”</a:t>
            </a:r>
            <a:r>
              <a:rPr lang="en-US" sz="2400" b="1" dirty="0">
                <a:solidFill>
                  <a:srgbClr val="002060"/>
                </a:solidFill>
              </a:rPr>
              <a:t/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it-IT" sz="2400" b="1" dirty="0">
                <a:solidFill>
                  <a:srgbClr val="002060"/>
                </a:solidFill>
              </a:rPr>
              <a:t/>
            </a:r>
            <a:br>
              <a:rPr lang="it-IT" sz="2400" b="1" dirty="0">
                <a:solidFill>
                  <a:srgbClr val="002060"/>
                </a:solidFill>
              </a:rPr>
            </a:br>
            <a:r>
              <a:rPr lang="en-US" sz="2400" b="1" dirty="0" smtClean="0">
                <a:solidFill>
                  <a:srgbClr val="002060"/>
                </a:solidFill>
              </a:rPr>
              <a:t/>
            </a:r>
            <a:br>
              <a:rPr lang="en-US" sz="2400" b="1" dirty="0" smtClean="0">
                <a:solidFill>
                  <a:srgbClr val="002060"/>
                </a:solidFill>
              </a:rPr>
            </a:br>
            <a:r>
              <a:rPr lang="en-US" sz="2400" b="1" dirty="0">
                <a:solidFill>
                  <a:srgbClr val="002060"/>
                </a:solidFill>
              </a:rPr>
              <a:t/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en-US" sz="2400" b="1" dirty="0">
                <a:solidFill>
                  <a:srgbClr val="002060"/>
                </a:solidFill>
              </a:rPr>
              <a:t/>
            </a:r>
            <a:br>
              <a:rPr lang="en-US" sz="2400" b="1" dirty="0">
                <a:solidFill>
                  <a:srgbClr val="002060"/>
                </a:solidFill>
              </a:rPr>
            </a:br>
            <a:endParaRPr lang="en-US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895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9891" y="1861507"/>
            <a:ext cx="8825658" cy="3329581"/>
          </a:xfrm>
        </p:spPr>
        <p:txBody>
          <a:bodyPr/>
          <a:lstStyle/>
          <a:p>
            <a:pPr algn="l"/>
            <a:r>
              <a:rPr lang="ru-RU" sz="2400" b="1" dirty="0">
                <a:solidFill>
                  <a:srgbClr val="002060"/>
                </a:solidFill>
              </a:rPr>
              <a:t>#DEADLINE</a:t>
            </a:r>
            <a:br>
              <a:rPr lang="ru-RU" sz="2400" b="1" dirty="0">
                <a:solidFill>
                  <a:srgbClr val="002060"/>
                </a:solidFill>
              </a:rPr>
            </a:br>
            <a:r>
              <a:rPr lang="ru-RU" sz="2400" b="1" dirty="0" smtClean="0">
                <a:solidFill>
                  <a:srgbClr val="002060"/>
                </a:solidFill>
              </a:rPr>
              <a:t>#</a:t>
            </a:r>
            <a:r>
              <a:rPr lang="en-US" sz="2400" b="1" dirty="0" smtClean="0">
                <a:solidFill>
                  <a:srgbClr val="002060"/>
                </a:solidFill>
              </a:rPr>
              <a:t>23</a:t>
            </a:r>
            <a:r>
              <a:rPr lang="ru-RU" sz="2400" b="1" dirty="0" smtClean="0">
                <a:solidFill>
                  <a:srgbClr val="002060"/>
                </a:solidFill>
              </a:rPr>
              <a:t>.</a:t>
            </a:r>
            <a:r>
              <a:rPr lang="en-US" sz="2400" b="1" dirty="0" smtClean="0">
                <a:solidFill>
                  <a:srgbClr val="002060"/>
                </a:solidFill>
              </a:rPr>
              <a:t>19</a:t>
            </a:r>
            <a:r>
              <a:rPr lang="ru-RU" sz="2400" b="1" dirty="0" smtClean="0">
                <a:solidFill>
                  <a:srgbClr val="002060"/>
                </a:solidFill>
              </a:rPr>
              <a:t>.2025 </a:t>
            </a:r>
            <a:r>
              <a:rPr lang="ru-RU" sz="2400" b="1" dirty="0">
                <a:solidFill>
                  <a:srgbClr val="002060"/>
                </a:solidFill>
              </a:rPr>
              <a:t>- </a:t>
            </a:r>
            <a:r>
              <a:rPr lang="en-US" sz="2400" b="1" dirty="0" smtClean="0">
                <a:solidFill>
                  <a:srgbClr val="002060"/>
                </a:solidFill>
              </a:rPr>
              <a:t>18</a:t>
            </a:r>
            <a:r>
              <a:rPr lang="ru-RU" sz="2400" b="1" dirty="0" smtClean="0">
                <a:solidFill>
                  <a:srgbClr val="002060"/>
                </a:solidFill>
              </a:rPr>
              <a:t>:00</a:t>
            </a:r>
            <a:r>
              <a:rPr lang="ru-RU" sz="2400" b="1" dirty="0">
                <a:solidFill>
                  <a:srgbClr val="002060"/>
                </a:solidFill>
              </a:rPr>
              <a:t/>
            </a:r>
            <a:br>
              <a:rPr lang="ru-RU" sz="2400" b="1" dirty="0">
                <a:solidFill>
                  <a:srgbClr val="002060"/>
                </a:solidFill>
              </a:rPr>
            </a:br>
            <a:r>
              <a:rPr lang="ru-RU" sz="2400" b="1" dirty="0">
                <a:solidFill>
                  <a:srgbClr val="002060"/>
                </a:solidFill>
              </a:rPr>
              <a:t>Проектот да се прати во емаил:</a:t>
            </a:r>
            <a:br>
              <a:rPr lang="ru-RU" sz="2400" b="1" dirty="0">
                <a:solidFill>
                  <a:srgbClr val="002060"/>
                </a:solidFill>
              </a:rPr>
            </a:br>
            <a:r>
              <a:rPr lang="ru-RU" sz="2400" b="1" dirty="0" smtClean="0">
                <a:solidFill>
                  <a:srgbClr val="002060"/>
                </a:solidFill>
                <a:hlinkClick r:id="rId2"/>
              </a:rPr>
              <a:t>alban.ismaili98@gmail.com</a:t>
            </a:r>
            <a:r>
              <a:rPr lang="en-US" sz="2400" b="1" dirty="0">
                <a:solidFill>
                  <a:srgbClr val="002060"/>
                </a:solidFill>
              </a:rPr>
              <a:t/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en-US" sz="2400" b="1" dirty="0" smtClean="0">
                <a:solidFill>
                  <a:srgbClr val="002060"/>
                </a:solidFill>
                <a:hlinkClick r:id="rId3"/>
              </a:rPr>
              <a:t>fatbardha@sharpgroup.co</a:t>
            </a:r>
            <a:r>
              <a:rPr lang="en-US" sz="2400" b="1" dirty="0">
                <a:solidFill>
                  <a:srgbClr val="002060"/>
                </a:solidFill>
              </a:rPr>
              <a:t/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en-US" sz="2400" b="1" dirty="0">
                <a:solidFill>
                  <a:srgbClr val="002060"/>
                </a:solidFill>
              </a:rPr>
              <a:t>info.mk@roiacademy.net</a:t>
            </a:r>
            <a:r>
              <a:rPr lang="en-US" sz="2400" b="1" dirty="0" smtClean="0">
                <a:solidFill>
                  <a:srgbClr val="002060"/>
                </a:solidFill>
              </a:rPr>
              <a:t/>
            </a:r>
            <a:br>
              <a:rPr lang="en-US" sz="2400" b="1" dirty="0" smtClean="0">
                <a:solidFill>
                  <a:srgbClr val="002060"/>
                </a:solidFill>
              </a:rPr>
            </a:br>
            <a:r>
              <a:rPr lang="en-US" sz="2400" b="1" dirty="0">
                <a:solidFill>
                  <a:srgbClr val="002060"/>
                </a:solidFill>
              </a:rPr>
              <a:t/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en-US" sz="2400" b="1" dirty="0">
                <a:solidFill>
                  <a:srgbClr val="002060"/>
                </a:solidFill>
              </a:rPr>
              <a:t/>
            </a:r>
            <a:br>
              <a:rPr lang="en-US" sz="2400" b="1" dirty="0">
                <a:solidFill>
                  <a:srgbClr val="002060"/>
                </a:solidFill>
              </a:rPr>
            </a:br>
            <a:endParaRPr lang="en-US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1955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491</TotalTime>
  <Words>8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Проектна задача  </vt:lpstr>
      <vt:lpstr>Од датасетот clients_products_dataset:  – Да се креира нова колона remaining_debt која ќе го пресмета преостанатиот долг на клиентот:  разлика помеѓу amount и payed_amount. – Да се креира нова колона total_debt_with_interest која ќе го пресмета долгот со камата: remaining_debt × (1 + interest_rate). – Колкав е процентот на клиенти кои се во default? - Кој продукт има највисока просечна каматна стапка (interest_rate)? - Да се прикаже график кој ја покажува просечната каматна стапка по product_type - Да се прикаже histogram за распределбата на interest_rate  </vt:lpstr>
      <vt:lpstr> - Дали клиентите кои се во default имаат поголем remaining_debt – Да се креира scatter plot кој ја покажува врската помеѓу:→ amount и interest_rate – Да се креира correlation matrix и да се анализира врската помеѓу:amountpayed_amountinterest_rate. - Кој тип на продукт има најголем долг?  Сите визуелизации да се постават во еден прозорец со титула: “Client products dashboard”     </vt:lpstr>
      <vt:lpstr>#DEADLINE #23.19.2025 - 18:00 Проектот да се прати во емаил: alban.ismaili98@gmail.com fatbardha@sharpgroup.co info.mk@roiacademy.net 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ВОВЕД ВО PYTHON И СЕТИРАЊЕ НА РАБОТНА ОКОЛИНА</dc:title>
  <dc:creator>Microsoft account</dc:creator>
  <cp:lastModifiedBy>USER</cp:lastModifiedBy>
  <cp:revision>38</cp:revision>
  <dcterms:created xsi:type="dcterms:W3CDTF">2025-01-31T00:41:24Z</dcterms:created>
  <dcterms:modified xsi:type="dcterms:W3CDTF">2026-04-17T17:27:42Z</dcterms:modified>
</cp:coreProperties>
</file>